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474720" cy="10058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18320" y="1005840"/>
            <a:ext cx="2743200" cy="502920"/>
          </a:xfrm>
          <a:prstGeom prst="rect">
            <a:avLst/>
          </a:prstGeom>
          <a:solidFill>
            <a:srgbClr val="F3B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508760"/>
            <a:ext cx="210312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DBF5EF"/>
                </a:solidFill>
                <a:latin typeface="Aptos"/>
              </a:defRPr>
            </a:pPr>
            <a:r>
              <a:t>CAPSTONE 75  |  DATA PRIVACY &amp; RESPONSIBLE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875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Safe Use of Generative AI</a:t>
            </a:r>
            <a:br/>
            <a:r>
              <a:t>at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520440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100" b="0">
                <a:solidFill>
                  <a:srgbClr val="DBF5EF"/>
                </a:solidFill>
                <a:latin typeface="Aptos"/>
              </a:defRPr>
            </a:pPr>
            <a:r>
              <a:t>Data Leak Prevention for students, interns and small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07492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Six-slide awareness deck  •  20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8064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F3B841"/>
                </a:solidFill>
                <a:latin typeface="Aptos"/>
              </a:defRPr>
            </a:pPr>
            <a:r>
              <a:t>Core idea: share less, verify more, use approved tools.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800" b="1">
                <a:solidFill>
                  <a:srgbClr val="142037"/>
                </a:solidFill>
                <a:latin typeface="Aptos"/>
              </a:defRPr>
            </a:pPr>
            <a:r>
              <a:t>1. Why data leakage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14400" cy="7315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677484"/>
                </a:solidFill>
                <a:latin typeface="Aptos"/>
              </a:defRPr>
            </a:pPr>
            <a:r>
              <a:t>A prompt can contain more than the task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77484"/>
                </a:solidFill>
                <a:latin typeface="Aptos"/>
              </a:defRPr>
            </a:pPr>
            <a:r>
              <a:t>2/6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C0392B"/>
                </a:solidFill>
                <a:latin typeface="Aptos"/>
              </a:defRPr>
            </a:pPr>
            <a:r>
              <a:t>PERSONAL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0">
                <a:solidFill>
                  <a:srgbClr val="2A3441"/>
                </a:solidFill>
                <a:latin typeface="Aptos"/>
              </a:defRPr>
            </a:pPr>
            <a:r>
              <a:t>Names, emails, phone numbers, student or customer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7992" y="1874519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2148840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09999"/>
                </a:solidFill>
                <a:latin typeface="Aptos"/>
              </a:defRPr>
            </a:pPr>
            <a:r>
              <a:t>CONFIDENTIAL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69748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0">
                <a:solidFill>
                  <a:srgbClr val="2A3441"/>
                </a:solidFill>
                <a:latin typeface="Aptos"/>
              </a:defRPr>
            </a:pPr>
            <a:r>
              <a:t>Contracts, internal reports, business plans, private source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0183" y="1874519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3B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58784" y="2148840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3B841"/>
                </a:solidFill>
                <a:latin typeface="Aptos"/>
              </a:defRPr>
            </a:pPr>
            <a:r>
              <a:t>SECURITY 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269748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0">
                <a:solidFill>
                  <a:srgbClr val="2A3441"/>
                </a:solidFill>
                <a:latin typeface="Aptos"/>
              </a:defRPr>
            </a:pPr>
            <a:r>
              <a:t>Passwords, API keys, access tokens, internal system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142037"/>
                </a:solidFill>
                <a:latin typeface="Aptos"/>
              </a:defRPr>
            </a:pPr>
            <a:r>
              <a:t>Possible outcomes: privacy breaches • loss of trust • contractual issues • security incidents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8640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09999"/>
                </a:solidFill>
                <a:latin typeface="Aptos"/>
              </a:defRPr>
            </a:pPr>
            <a:r>
              <a:t>Rule: if the task can be completed without sensitive data, do not include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800" b="1">
                <a:solidFill>
                  <a:srgbClr val="142037"/>
                </a:solidFill>
                <a:latin typeface="Aptos"/>
              </a:defRPr>
            </a:pPr>
            <a:r>
              <a:t>2. Common unsafe behaviours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14400" cy="7315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677484"/>
                </a:solidFill>
                <a:latin typeface="Aptos"/>
              </a:defRPr>
            </a:pPr>
            <a:r>
              <a:t>These mistakes are often avoidable before pressing Send.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77484"/>
                </a:solidFill>
                <a:latin typeface="Aptos"/>
              </a:defRPr>
            </a:pPr>
            <a:r>
              <a:t>3/6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Pasting real customer or student records into an unapproved tool.</a:t>
            </a:r>
          </a:p>
          <a:p>
            <a:pPr>
              <a:spcAft>
                <a:spcPts val="11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Uploading full private source code or confidential reports.</a:t>
            </a:r>
          </a:p>
          <a:p>
            <a:pPr>
              <a:spcAft>
                <a:spcPts val="11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Including passwords, API keys or tokens in debugging prompts.</a:t>
            </a:r>
          </a:p>
          <a:p>
            <a:pPr>
              <a:spcAft>
                <a:spcPts val="11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Assuming a privacy toggle means zero retention.</a:t>
            </a:r>
          </a:p>
          <a:p>
            <a:pPr>
              <a:spcAft>
                <a:spcPts val="11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Trusting AI-generated facts, citations or code without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828800"/>
            <a:ext cx="4480560" cy="3337560"/>
          </a:xfrm>
          <a:prstGeom prst="roundRect">
            <a:avLst/>
          </a:prstGeom>
          <a:solidFill>
            <a:srgbClr val="D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214884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09999"/>
                </a:solidFill>
                <a:latin typeface="Aptos"/>
              </a:defRPr>
            </a:pPr>
            <a:r>
              <a:t>ASK BEFORE YOU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743200"/>
            <a:ext cx="37490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Is this information confidential?</a:t>
            </a:r>
          </a:p>
          <a:p>
            <a:pPr>
              <a:spcAft>
                <a:spcPts val="10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Is this tool approved for it?</a:t>
            </a:r>
          </a:p>
          <a:p>
            <a:pPr>
              <a:spcAft>
                <a:spcPts val="10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Can I replace details with placeholders?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800" b="1">
                <a:solidFill>
                  <a:srgbClr val="142037"/>
                </a:solidFill>
                <a:latin typeface="Aptos"/>
              </a:defRPr>
            </a:pPr>
            <a:r>
              <a:t>3. A safer prompt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14400" cy="7315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677484"/>
                </a:solidFill>
                <a:latin typeface="Aptos"/>
              </a:defRPr>
            </a:pPr>
            <a:r>
              <a:t>Use this short routine every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77484"/>
                </a:solidFill>
                <a:latin typeface="Aptos"/>
              </a:defRPr>
            </a:pPr>
            <a:r>
              <a:t>4/6</a:t>
            </a:r>
          </a:p>
        </p:txBody>
      </p:sp>
      <p:sp>
        <p:nvSpPr>
          <p:cNvPr id="6" name="Oval 5"/>
          <p:cNvSpPr/>
          <p:nvPr/>
        </p:nvSpPr>
        <p:spPr>
          <a:xfrm>
            <a:off x="1161288" y="1828800"/>
            <a:ext cx="685800" cy="685800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19476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4320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42037"/>
                </a:solidFill>
                <a:latin typeface="Aptos"/>
              </a:defRPr>
            </a:pPr>
            <a:r>
              <a:t>CLASSIFY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10128"/>
            <a:ext cx="1965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A3441"/>
                </a:solidFill>
                <a:latin typeface="Aptos"/>
              </a:defRPr>
            </a:pPr>
            <a:r>
              <a:t>Public, internal, confidential or sensitive?</a:t>
            </a:r>
          </a:p>
        </p:txBody>
      </p:sp>
      <p:sp>
        <p:nvSpPr>
          <p:cNvPr id="10" name="Oval 9"/>
          <p:cNvSpPr/>
          <p:nvPr/>
        </p:nvSpPr>
        <p:spPr>
          <a:xfrm>
            <a:off x="3474720" y="1828800"/>
            <a:ext cx="685800" cy="685800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9476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74320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42037"/>
                </a:solidFill>
                <a:latin typeface="Aptos"/>
              </a:defRPr>
            </a:pPr>
            <a:r>
              <a:t>MINIMISE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3310128"/>
            <a:ext cx="1965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A3441"/>
                </a:solidFill>
                <a:latin typeface="Aptos"/>
              </a:defRPr>
            </a:pPr>
            <a:r>
              <a:t>Keep only the details needed for the task.</a:t>
            </a:r>
          </a:p>
        </p:txBody>
      </p:sp>
      <p:sp>
        <p:nvSpPr>
          <p:cNvPr id="14" name="Oval 13"/>
          <p:cNvSpPr/>
          <p:nvPr/>
        </p:nvSpPr>
        <p:spPr>
          <a:xfrm>
            <a:off x="5788151" y="1828800"/>
            <a:ext cx="685800" cy="685800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1" y="19476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1" y="274320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42037"/>
                </a:solidFill>
                <a:latin typeface="Aptos"/>
              </a:defRPr>
            </a:pPr>
            <a:r>
              <a:t>REDACT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3" y="3310128"/>
            <a:ext cx="1965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A3441"/>
                </a:solidFill>
                <a:latin typeface="Aptos"/>
              </a:defRPr>
            </a:pPr>
            <a:r>
              <a:t>Use [PERSON_A], [CLIENT_A], [API_KEY_REDACTED].</a:t>
            </a:r>
          </a:p>
        </p:txBody>
      </p:sp>
      <p:sp>
        <p:nvSpPr>
          <p:cNvPr id="18" name="Oval 17"/>
          <p:cNvSpPr/>
          <p:nvPr/>
        </p:nvSpPr>
        <p:spPr>
          <a:xfrm>
            <a:off x="8101584" y="1828800"/>
            <a:ext cx="685800" cy="685800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1584" y="19476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98664" y="274320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42037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936" y="3310128"/>
            <a:ext cx="1965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A3441"/>
                </a:solidFill>
                <a:latin typeface="Aptos"/>
              </a:defRPr>
            </a:pPr>
            <a:r>
              <a:t>Use an approved tool and review privacy settings.</a:t>
            </a:r>
          </a:p>
        </p:txBody>
      </p:sp>
      <p:sp>
        <p:nvSpPr>
          <p:cNvPr id="22" name="Oval 21"/>
          <p:cNvSpPr/>
          <p:nvPr/>
        </p:nvSpPr>
        <p:spPr>
          <a:xfrm>
            <a:off x="10415016" y="1828800"/>
            <a:ext cx="685800" cy="685800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15016" y="19476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12096" y="274320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42037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3310128"/>
            <a:ext cx="1965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A3441"/>
                </a:solidFill>
                <a:latin typeface="Aptos"/>
              </a:defRPr>
            </a:pPr>
            <a:r>
              <a:t>Check facts, citations and generated code before use.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1663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C0392B"/>
                </a:solidFill>
                <a:latin typeface="Aptos"/>
              </a:defRPr>
            </a:pPr>
            <a:r>
              <a:t>If unsure: stop, ask the responsible person, and do not submit the sensitive content.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800" b="1">
                <a:solidFill>
                  <a:srgbClr val="142037"/>
                </a:solidFill>
                <a:latin typeface="Aptos"/>
              </a:defRPr>
            </a:pPr>
            <a:r>
              <a:t>4. Controls that support safe 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14400" cy="7315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677484"/>
                </a:solidFill>
                <a:latin typeface="Aptos"/>
              </a:defRPr>
            </a:pPr>
            <a:r>
              <a:t>Tools help—but they do not replace judgement.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77484"/>
                </a:solidFill>
                <a:latin typeface="Aptos"/>
              </a:defRPr>
            </a:pPr>
            <a:r>
              <a:t>5/6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Use approved accounts and follow organisation rules.</a:t>
            </a:r>
          </a:p>
          <a:p>
            <a:pPr>
              <a:spcAft>
                <a:spcPts val="10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Review model-training, activity, retention and connected-app settings.</a:t>
            </a:r>
          </a:p>
          <a:p>
            <a:pPr>
              <a:spcAft>
                <a:spcPts val="10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Use synthetic data for demonstrations and tests.</a:t>
            </a:r>
          </a:p>
          <a:p>
            <a:pPr>
              <a:spcAft>
                <a:spcPts val="10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Keep access limited; protect files and credentials.</a:t>
            </a:r>
          </a:p>
          <a:p>
            <a:pPr>
              <a:spcAft>
                <a:spcPts val="10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Report accidental disclosure promptly.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828800"/>
            <a:ext cx="4663440" cy="3429000"/>
          </a:xfrm>
          <a:prstGeom prst="roundRect">
            <a:avLst/>
          </a:prstGeom>
          <a:solidFill>
            <a:srgbClr val="DBF5EF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14884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09999"/>
                </a:solidFill>
                <a:latin typeface="Aptos"/>
              </a:defRPr>
            </a:pPr>
            <a:r>
              <a:t>OUR AUTOMATION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743200"/>
            <a:ext cx="3886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0">
                <a:solidFill>
                  <a:srgbClr val="2A3441"/>
                </a:solidFill>
                <a:latin typeface="Aptos"/>
              </a:defRPr>
            </a:pPr>
            <a:r>
              <a:t>A local Python regex checker flags possible email addresses, phone-like patterns, ID labels and secret-related keywords before text is shared.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617720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C0392B"/>
                </a:solidFill>
                <a:latin typeface="Aptos"/>
              </a:defRPr>
            </a:pPr>
            <a:r>
              <a:t>Warning tool—not a guarantee.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5.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914400" cy="7315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875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Share the minimum information needed.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Replace real identifiers and secrets with placeholders.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Check tool approval and current privacy settings.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Verify important outputs; AI can be wrong or outdated.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Report accidental disclosure and follow incident procedures.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39496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1">
                <a:solidFill>
                  <a:srgbClr val="F3B841"/>
                </a:solidFill>
                <a:latin typeface="Aptos"/>
              </a:defRPr>
            </a:pPr>
            <a:r>
              <a:t>Safer AI use is a team habit: minimise • redact • review • verify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DBF5EF"/>
                </a:solidFill>
                <a:latin typeface="Aptos"/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